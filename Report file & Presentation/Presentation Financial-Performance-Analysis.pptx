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6.svg" ContentType="image/svg+xml"/>
  <Override PartName="/ppt/media/image18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embeddedFontLst>
    <p:embeddedFont>
      <p:font typeface="IBM Plex Sans Bold" panose="020B0503050203000203" pitchFamily="34" charset="0"/>
      <p:bold r:id="rId18"/>
    </p:embeddedFont>
    <p:embeddedFont>
      <p:font typeface="IBM Plex Sans Bold" panose="020B0503050203000203" pitchFamily="34" charset="-122"/>
      <p:bold r:id="rId19"/>
    </p:embeddedFont>
    <p:embeddedFont>
      <p:font typeface="IBM Plex Sans Bold" panose="020B0503050203000203" pitchFamily="34" charset="-120"/>
      <p:bold r:id="rId20"/>
    </p:embeddedFont>
    <p:embeddedFont>
      <p:font typeface="Roboto" panose="02000000000000000000" pitchFamily="34" charset="0"/>
      <p:regular r:id="rId21"/>
    </p:embeddedFont>
    <p:embeddedFont>
      <p:font typeface="Roboto" panose="02000000000000000000" pitchFamily="34" charset="-122"/>
      <p:regular r:id="rId22"/>
    </p:embeddedFont>
    <p:embeddedFont>
      <p:font typeface="Roboto" panose="02000000000000000000" pitchFamily="34" charset="-120"/>
      <p:regular r:id="rId23"/>
    </p:embeddedFont>
    <p:embeddedFont>
      <p:font typeface="IBM Plex Sans Medium" panose="020B0503050203000203" pitchFamily="34" charset="0"/>
      <p:regular r:id="rId24"/>
    </p:embeddedFont>
    <p:embeddedFont>
      <p:font typeface="IBM Plex Sans Medium" panose="020B0503050203000203" pitchFamily="34" charset="-122"/>
      <p:regular r:id="rId25"/>
    </p:embeddedFont>
    <p:embeddedFont>
      <p:font typeface="IBM Plex Sans Medium" panose="020B0503050203000203" pitchFamily="34" charset="-120"/>
      <p:regular r:id="rId26"/>
    </p:embeddedFont>
    <p:embeddedFont>
      <p:font typeface="Roboto Bold" panose="02000000000000000000" pitchFamily="34" charset="0"/>
      <p:bold r:id="rId27"/>
    </p:embeddedFont>
    <p:embeddedFont>
      <p:font typeface="Roboto Bold" panose="02000000000000000000" pitchFamily="34" charset="-122"/>
      <p:bold r:id="rId28"/>
    </p:embeddedFont>
    <p:embeddedFont>
      <p:font typeface="Roboto Bold" panose="02000000000000000000" pitchFamily="34" charset="-120"/>
      <p:bold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8e3940d-22b8-4ae5-bb5c-9e4dbfbef7e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D9D7"/>
    <a:srgbClr val="9D8C2F"/>
    <a:srgbClr val="0959DD"/>
    <a:srgbClr val="E47B0A"/>
    <a:srgbClr val="FA325D"/>
    <a:srgbClr val="FCBD93"/>
    <a:srgbClr val="1695CA"/>
    <a:srgbClr val="0DB9D3"/>
    <a:srgbClr val="4D439D"/>
    <a:srgbClr val="19A3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6.fntdata"/><Relationship Id="rId32" Type="http://schemas.openxmlformats.org/officeDocument/2006/relationships/font" Target="fonts/font15.fntdata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C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FCBF8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C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942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C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DDE9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4.xml"/><Relationship Id="rId14" Type="http://schemas.openxmlformats.org/officeDocument/2006/relationships/image" Target="../media/image28.svg"/><Relationship Id="rId13" Type="http://schemas.openxmlformats.org/officeDocument/2006/relationships/image" Target="../media/image27.png"/><Relationship Id="rId12" Type="http://schemas.openxmlformats.org/officeDocument/2006/relationships/image" Target="../media/image26.svg"/><Relationship Id="rId11" Type="http://schemas.openxmlformats.org/officeDocument/2006/relationships/image" Target="../media/image25.svg"/><Relationship Id="rId10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79000">
              <a:schemeClr val="accent1">
                <a:lumMod val="54000"/>
                <a:lumOff val="46000"/>
              </a:schemeClr>
            </a:gs>
            <a:gs pos="0">
              <a:srgbClr val="00B0F0">
                <a:lumMod val="38000"/>
                <a:lumOff val="62000"/>
              </a:srgbClr>
            </a:gs>
            <a:gs pos="100000">
              <a:schemeClr val="accent1">
                <a:lumMod val="75000"/>
                <a:lumOff val="25000"/>
              </a:schemeClr>
            </a:gs>
          </a:gsLst>
          <a:lin ang="148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661475" y="1749921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ln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Bold" panose="020B0503050203000203" pitchFamily="34" charset="0"/>
                <a:ea typeface="IBM Plex Sans Bold" panose="020B0503050203000203" pitchFamily="34" charset="-122"/>
                <a:cs typeface="IBM Plex Sans Bold" panose="020B0503050203000203" pitchFamily="34" charset="-120"/>
              </a:rPr>
              <a:t>Financial Performance Analysis -</a:t>
            </a:r>
            <a:endParaRPr lang="en-US" sz="3600" b="1" dirty="0">
              <a:ln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BM Plex Sans Bold" panose="020B0503050203000203" pitchFamily="34" charset="0"/>
              <a:ea typeface="IBM Plex Sans Bold" panose="020B0503050203000203" pitchFamily="34" charset="-122"/>
              <a:cs typeface="IBM Plex Sans Bold" panose="020B0503050203000203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61475" y="2718594"/>
            <a:ext cx="10868745" cy="18896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dist">
              <a:lnSpc>
                <a:spcPct val="133000"/>
              </a:lnSpc>
              <a:buNone/>
            </a:pPr>
            <a:r>
              <a:rPr lang="en-US" sz="1850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         The analysis reveals this organization is </a:t>
            </a:r>
            <a:r>
              <a:rPr lang="en-US" sz="185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highly profitable with exceptional revenue growth</a:t>
            </a:r>
            <a:r>
              <a:rPr lang="en-US" sz="1850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but with concerning patterns in </a:t>
            </a:r>
            <a:r>
              <a:rPr lang="en-US" sz="185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expense management</a:t>
            </a:r>
            <a:r>
              <a:rPr lang="en-US" sz="1850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</a:t>
            </a:r>
            <a:r>
              <a:rPr lang="en-US" sz="185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regional performance</a:t>
            </a:r>
            <a:r>
              <a:rPr lang="en-US" sz="1850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and opportunities for operational optimization. The company has achieved </a:t>
            </a:r>
            <a:r>
              <a:rPr lang="en-US" sz="185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remarkable 87% revenue growth</a:t>
            </a:r>
            <a:r>
              <a:rPr lang="en-US" sz="1850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over </a:t>
            </a:r>
            <a:r>
              <a:rPr lang="en-US" sz="185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24 months</a:t>
            </a:r>
            <a:r>
              <a:rPr lang="en-US" sz="1850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maintaining an </a:t>
            </a:r>
            <a:r>
              <a:rPr lang="en-US" sz="185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impressive 80.5% average profit</a:t>
            </a:r>
            <a:r>
              <a:rPr lang="en-US" sz="1850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margin. However, a </a:t>
            </a:r>
            <a:r>
              <a:rPr lang="en-US" sz="185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60.9% expense</a:t>
            </a:r>
            <a:r>
              <a:rPr lang="en-US" sz="1850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overrun (</a:t>
            </a:r>
            <a:r>
              <a:rPr lang="en-US" sz="185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$63.48M above budget</a:t>
            </a:r>
            <a:r>
              <a:rPr lang="en-US" sz="1850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) represents a significant concern requiring immediate management attention.</a:t>
            </a:r>
            <a:endParaRPr lang="en-US" sz="1850" dirty="0">
              <a:solidFill>
                <a:schemeClr val="accent1">
                  <a:lumMod val="50000"/>
                </a:schemeClr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3"/>
            </p:custDataLst>
          </p:nvPr>
        </p:nvSpPr>
        <p:spPr>
          <a:xfrm>
            <a:off x="661475" y="4820841"/>
            <a:ext cx="2819131" cy="287139"/>
          </a:xfrm>
          <a:prstGeom prst="roundRect">
            <a:avLst>
              <a:gd name="adj" fmla="val 47396"/>
            </a:avLst>
          </a:prstGeom>
          <a:solidFill>
            <a:srgbClr val="D2EDF9"/>
          </a:solidFill>
        </p:spPr>
      </p:sp>
      <p:sp>
        <p:nvSpPr>
          <p:cNvPr id="5" name="Text 3"/>
          <p:cNvSpPr/>
          <p:nvPr>
            <p:custDataLst>
              <p:tags r:id="rId4"/>
            </p:custDataLst>
          </p:nvPr>
        </p:nvSpPr>
        <p:spPr>
          <a:xfrm>
            <a:off x="774879" y="4877495"/>
            <a:ext cx="3201907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9A382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87% REVENUE GROWTH · 24 MONTHS</a:t>
            </a:r>
            <a:endParaRPr lang="en-US" sz="1150" dirty="0">
              <a:solidFill>
                <a:srgbClr val="19A382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7755255" y="19818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accent1">
                <a:lumMod val="60000"/>
                <a:lumOff val="40000"/>
              </a:schemeClr>
            </a:gs>
            <a:gs pos="0">
              <a:srgbClr val="0DD7D0"/>
            </a:gs>
            <a:gs pos="100000">
              <a:srgbClr val="0DD7D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61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High-Growth, Highly Profitable Organization</a:t>
            </a:r>
            <a:endParaRPr lang="en-US" sz="3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lum bright="12000"/>
          </a:blip>
          <a:stretch>
            <a:fillRect/>
          </a:stretch>
        </p:blipFill>
        <p:spPr>
          <a:xfrm>
            <a:off x="661475" y="1528763"/>
            <a:ext cx="4954464" cy="3566319"/>
          </a:xfrm>
          <a:prstGeom prst="rect">
            <a:avLst/>
          </a:prstGeom>
          <a:ln w="28575" cmpd="sng">
            <a:noFill/>
            <a:prstDash val="solid"/>
          </a:ln>
          <a:effectLst>
            <a:reflection blurRad="6350" stA="52000" endA="300" endPos="35000" dir="5400000" sy="-100000" algn="bl" rotWithShape="0"/>
          </a:effectLst>
        </p:spPr>
      </p:pic>
      <p:sp>
        <p:nvSpPr>
          <p:cNvPr id="4" name="Shape 1"/>
          <p:cNvSpPr/>
          <p:nvPr/>
        </p:nvSpPr>
        <p:spPr>
          <a:xfrm>
            <a:off x="6321267" y="1528763"/>
            <a:ext cx="2522375" cy="1650305"/>
          </a:xfrm>
          <a:prstGeom prst="roundRect">
            <a:avLst>
              <a:gd name="adj" fmla="val 9793"/>
            </a:avLst>
          </a:prstGeom>
          <a:solidFill>
            <a:srgbClr val="2C7FA2"/>
          </a:solidFill>
        </p:spPr>
      </p:sp>
      <p:sp>
        <p:nvSpPr>
          <p:cNvPr id="5" name="Text 2"/>
          <p:cNvSpPr/>
          <p:nvPr/>
        </p:nvSpPr>
        <p:spPr>
          <a:xfrm>
            <a:off x="6500749" y="1708249"/>
            <a:ext cx="2163411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Revenue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500749" y="2159298"/>
            <a:ext cx="2163411" cy="8402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$864.61M vs. Budget $135.81M — </a:t>
            </a:r>
            <a:r>
              <a:rPr lang="en-US" sz="14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536% above target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014195" y="1528763"/>
            <a:ext cx="2522375" cy="1650305"/>
          </a:xfrm>
          <a:prstGeom prst="roundRect">
            <a:avLst>
              <a:gd name="adj" fmla="val 9793"/>
            </a:avLst>
          </a:prstGeom>
          <a:solidFill>
            <a:srgbClr val="2C7FA2"/>
          </a:solidFill>
        </p:spPr>
      </p:sp>
      <p:sp>
        <p:nvSpPr>
          <p:cNvPr id="8" name="Text 5"/>
          <p:cNvSpPr/>
          <p:nvPr/>
        </p:nvSpPr>
        <p:spPr>
          <a:xfrm>
            <a:off x="9193677" y="1708249"/>
            <a:ext cx="2163411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Net Profit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193677" y="2159298"/>
            <a:ext cx="2163411" cy="2800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$696.87M — </a:t>
            </a:r>
            <a:r>
              <a:rPr lang="en-US" sz="14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80.5% margin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21267" y="3349625"/>
            <a:ext cx="2522375" cy="1370211"/>
          </a:xfrm>
          <a:prstGeom prst="roundRect">
            <a:avLst>
              <a:gd name="adj" fmla="val 11795"/>
            </a:avLst>
          </a:prstGeom>
          <a:solidFill>
            <a:srgbClr val="2C7FA2"/>
          </a:solidFill>
        </p:spPr>
      </p:sp>
      <p:sp>
        <p:nvSpPr>
          <p:cNvPr id="11" name="Text 8"/>
          <p:cNvSpPr/>
          <p:nvPr/>
        </p:nvSpPr>
        <p:spPr>
          <a:xfrm>
            <a:off x="6500749" y="3529112"/>
            <a:ext cx="2163411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Expense Overrun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500749" y="3980160"/>
            <a:ext cx="2163411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+$63.48M — </a:t>
            </a:r>
            <a:r>
              <a:rPr lang="en-US" sz="14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60.9% above budget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014195" y="3349625"/>
            <a:ext cx="2522375" cy="1370211"/>
          </a:xfrm>
          <a:prstGeom prst="roundRect">
            <a:avLst>
              <a:gd name="adj" fmla="val 11795"/>
            </a:avLst>
          </a:prstGeom>
          <a:solidFill>
            <a:srgbClr val="2C7FA2"/>
          </a:solidFill>
        </p:spPr>
      </p:sp>
      <p:sp>
        <p:nvSpPr>
          <p:cNvPr id="14" name="Text 11"/>
          <p:cNvSpPr/>
          <p:nvPr/>
        </p:nvSpPr>
        <p:spPr>
          <a:xfrm>
            <a:off x="9193677" y="3529112"/>
            <a:ext cx="2163411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Revenue Growth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193677" y="3980160"/>
            <a:ext cx="2163411" cy="2800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87%</a:t>
            </a:r>
            <a:r>
              <a:rPr lang="en-US" sz="14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over 24 months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21267" y="4911725"/>
            <a:ext cx="5215303" cy="1236960"/>
          </a:xfrm>
          <a:prstGeom prst="roundRect">
            <a:avLst>
              <a:gd name="adj" fmla="val 13065"/>
            </a:avLst>
          </a:prstGeom>
          <a:solidFill>
            <a:srgbClr val="0F5371"/>
          </a:solidFill>
        </p:spPr>
      </p:sp>
      <p:sp>
        <p:nvSpPr>
          <p:cNvPr id="18" name="Text 14"/>
          <p:cNvSpPr/>
          <p:nvPr/>
        </p:nvSpPr>
        <p:spPr>
          <a:xfrm>
            <a:off x="6904659" y="5110063"/>
            <a:ext cx="4452429" cy="8402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Key Insight:</a:t>
            </a:r>
            <a:r>
              <a:rPr lang="en-US" sz="14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Expense growth (32%) is well below revenue growth (87%) – strong operating leverage, but budgeting needs recalibration.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/>
            </a:gs>
            <a:gs pos="44000">
              <a:schemeClr val="accent1">
                <a:lumMod val="54000"/>
                <a:lumOff val="46000"/>
                <a:alpha val="0"/>
              </a:schemeClr>
            </a:gs>
            <a:gs pos="100000">
              <a:schemeClr val="accent1">
                <a:lumMod val="85000"/>
              </a:schemeClr>
            </a:gs>
          </a:gsLst>
          <a:lin ang="66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280"/>
            <a:ext cx="10868745" cy="5316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6A6A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Revenue Growth: Consistent &amp; Accelerating</a:t>
            </a:r>
            <a:endParaRPr lang="en-US" sz="3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94790"/>
            <a:ext cx="7512050" cy="4652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24562"/>
            <a:ext cx="7529026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002189" y="1494730"/>
            <a:ext cx="382677" cy="382687"/>
          </a:xfrm>
          <a:prstGeom prst="roundRect">
            <a:avLst>
              <a:gd name="adj" fmla="val 40009"/>
            </a:avLst>
          </a:prstGeom>
          <a:solidFill>
            <a:srgbClr val="C2CBE1"/>
          </a:solidFill>
        </p:spPr>
      </p:sp>
      <p:sp>
        <p:nvSpPr>
          <p:cNvPr id="6" name="Text 3"/>
          <p:cNvSpPr/>
          <p:nvPr/>
        </p:nvSpPr>
        <p:spPr>
          <a:xfrm>
            <a:off x="8537957" y="1553170"/>
            <a:ext cx="2998514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Steady Climb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537957" y="1971973"/>
            <a:ext cx="2998514" cy="7756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Revenue rose from $28.25M (Jan 2022) to $52.88M (Dec 2023) — no seasonal dips, purely structural growth.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02189" y="3053854"/>
            <a:ext cx="382677" cy="382687"/>
          </a:xfrm>
          <a:prstGeom prst="roundRect">
            <a:avLst>
              <a:gd name="adj" fmla="val 40009"/>
            </a:avLst>
          </a:prstGeom>
          <a:solidFill>
            <a:srgbClr val="C2CBE1"/>
          </a:solidFill>
        </p:spPr>
      </p:sp>
      <p:sp>
        <p:nvSpPr>
          <p:cNvPr id="9" name="Text 6"/>
          <p:cNvSpPr/>
          <p:nvPr/>
        </p:nvSpPr>
        <p:spPr>
          <a:xfrm>
            <a:off x="8537957" y="3112294"/>
            <a:ext cx="2998514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Budget-Crushing Performance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537957" y="3531096"/>
            <a:ext cx="2998514" cy="1034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Actual revenue exceeded budget by </a:t>
            </a:r>
            <a:r>
              <a:rPr lang="en-US" sz="13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536% overall</a:t>
            </a: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with a cumulative $728.79M advantage above the baseline.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02189" y="4871541"/>
            <a:ext cx="382677" cy="382687"/>
          </a:xfrm>
          <a:prstGeom prst="roundRect">
            <a:avLst>
              <a:gd name="adj" fmla="val 40009"/>
            </a:avLst>
          </a:prstGeom>
          <a:solidFill>
            <a:srgbClr val="C2CBE1"/>
          </a:solidFill>
        </p:spPr>
      </p:sp>
      <p:sp>
        <p:nvSpPr>
          <p:cNvPr id="12" name="Text 9"/>
          <p:cNvSpPr/>
          <p:nvPr/>
        </p:nvSpPr>
        <p:spPr>
          <a:xfrm>
            <a:off x="8537957" y="4929981"/>
            <a:ext cx="2998514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Next Move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37957" y="5348784"/>
            <a:ext cx="2998514" cy="7756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Leverage Enterprise segment's 4.15x ROI to accelerate further growth initiatives across all periods.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5A18C8">
                <a:lumMod val="41000"/>
                <a:lumOff val="59000"/>
                <a:alpha val="80000"/>
              </a:srgbClr>
            </a:gs>
            <a:gs pos="24000">
              <a:schemeClr val="accent1">
                <a:lumMod val="7000"/>
                <a:lumOff val="93000"/>
                <a:alpha val="21000"/>
              </a:schemeClr>
            </a:gs>
            <a:gs pos="100000">
              <a:srgbClr val="0DD7D0"/>
            </a:gs>
          </a:gsLst>
          <a:lin ang="378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959"/>
            <a:ext cx="10868745" cy="3179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Revenue is Remarkably Balanced Across Categories &amp; Units</a:t>
            </a:r>
            <a:endParaRPr lang="en-US" sz="200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940" y="987425"/>
            <a:ext cx="3474720" cy="29121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4078089"/>
            <a:ext cx="5310253" cy="1589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4272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Category Split — Nearly Equal Distribution</a:t>
            </a:r>
            <a:endParaRPr lang="en-US" sz="1200" dirty="0">
              <a:solidFill>
                <a:srgbClr val="14272F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661475" y="4298652"/>
            <a:ext cx="2627743" cy="567630"/>
          </a:xfrm>
          <a:prstGeom prst="roundRect">
            <a:avLst>
              <a:gd name="adj" fmla="val 16132"/>
            </a:avLst>
          </a:prstGeom>
          <a:solidFill>
            <a:srgbClr val="D8DDE9">
              <a:alpha val="95000"/>
            </a:srgbClr>
          </a:solidFill>
          <a:ln w="12700">
            <a:solidFill>
              <a:srgbClr val="A8B1C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5871" y="4413052"/>
            <a:ext cx="2398950" cy="1589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4272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Subscription</a:t>
            </a:r>
            <a:endParaRPr lang="en-US" sz="1000" dirty="0">
              <a:solidFill>
                <a:srgbClr val="14272F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75871" y="4626769"/>
            <a:ext cx="2398950" cy="125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14272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33.8% · $291.85M</a:t>
            </a:r>
            <a:endParaRPr lang="en-US" sz="1000" dirty="0">
              <a:solidFill>
                <a:srgbClr val="14272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343985" y="4298652"/>
            <a:ext cx="2627743" cy="567630"/>
          </a:xfrm>
          <a:prstGeom prst="roundRect">
            <a:avLst>
              <a:gd name="adj" fmla="val 16132"/>
            </a:avLst>
          </a:prstGeom>
          <a:solidFill>
            <a:srgbClr val="D8DDE9">
              <a:alpha val="95000"/>
            </a:srgbClr>
          </a:solidFill>
          <a:ln w="12700">
            <a:solidFill>
              <a:srgbClr val="A8B1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58381" y="4413052"/>
            <a:ext cx="2398950" cy="1589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4272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Service</a:t>
            </a:r>
            <a:endParaRPr lang="en-US" sz="1000" dirty="0">
              <a:solidFill>
                <a:srgbClr val="14272F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58381" y="4626769"/>
            <a:ext cx="2398950" cy="125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14272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33.4% · $288.63M</a:t>
            </a:r>
            <a:endParaRPr lang="en-US" sz="1000" dirty="0">
              <a:solidFill>
                <a:srgbClr val="14272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61475" y="4921052"/>
            <a:ext cx="5310253" cy="567630"/>
          </a:xfrm>
          <a:prstGeom prst="roundRect">
            <a:avLst>
              <a:gd name="adj" fmla="val 16132"/>
            </a:avLst>
          </a:prstGeom>
          <a:solidFill>
            <a:srgbClr val="D8DDE9">
              <a:alpha val="95000"/>
            </a:srgbClr>
          </a:solidFill>
          <a:ln w="12700">
            <a:solidFill>
              <a:srgbClr val="A8B1C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9846" y="5069741"/>
            <a:ext cx="5081460" cy="1589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4272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Product</a:t>
            </a:r>
            <a:endParaRPr lang="en-US" sz="1400" dirty="0">
              <a:solidFill>
                <a:srgbClr val="14272F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688366" y="5085973"/>
            <a:ext cx="5081460" cy="125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14272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32.9% · $284.12M</a:t>
            </a:r>
            <a:endParaRPr lang="en-US" sz="1400" dirty="0">
              <a:solidFill>
                <a:srgbClr val="14272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61475" y="5550297"/>
            <a:ext cx="5919838" cy="125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14272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Max difference: only </a:t>
            </a:r>
            <a:r>
              <a:rPr lang="en-US" sz="1000" b="1" dirty="0">
                <a:solidFill>
                  <a:srgbClr val="14272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$7.7M</a:t>
            </a:r>
            <a:r>
              <a:rPr lang="en-US" sz="1000" dirty="0">
                <a:solidFill>
                  <a:srgbClr val="14272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between categories.</a:t>
            </a:r>
            <a:endParaRPr lang="en-US" sz="1000" dirty="0">
              <a:solidFill>
                <a:srgbClr val="14272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226317" y="4275574"/>
            <a:ext cx="5310253" cy="1589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4272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Business Unit Split — All Profitable</a:t>
            </a:r>
            <a:endParaRPr lang="en-US" sz="1400" dirty="0">
              <a:solidFill>
                <a:srgbClr val="14272F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226317" y="4570571"/>
            <a:ext cx="5310253" cy="9880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3000"/>
              </a:lnSpc>
              <a:spcAft>
                <a:spcPts val="350"/>
              </a:spcAft>
              <a:buNone/>
            </a:pPr>
            <a:r>
              <a:rPr lang="en-US" sz="1200" b="1" dirty="0">
                <a:solidFill>
                  <a:srgbClr val="14272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Recommendation:</a:t>
            </a:r>
            <a:r>
              <a:rPr lang="en-US" sz="1200" dirty="0">
                <a:solidFill>
                  <a:srgbClr val="14272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Focus growth on Enterprise (highest ROI at 4.15x) and Service category for margin expansion.</a:t>
            </a:r>
            <a:endParaRPr lang="en-US" sz="1200" dirty="0">
              <a:solidFill>
                <a:srgbClr val="14272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03000"/>
              </a:lnSpc>
              <a:spcAft>
                <a:spcPts val="350"/>
              </a:spcAft>
              <a:buNone/>
            </a:pPr>
            <a:r>
              <a:rPr lang="en-US" altLang="en-US" sz="1200" dirty="0">
                <a:solidFill>
                  <a:srgbClr val="14272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Business Implications: The company has achieved remarkable revenue growth with excellent diversification. The balanced distribution across categories and segments reduces risk and indicates effective market positioning.</a:t>
            </a:r>
            <a:endParaRPr lang="en-US" altLang="en-US" sz="1200" dirty="0">
              <a:solidFill>
                <a:srgbClr val="14272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03000"/>
              </a:lnSpc>
              <a:spcAft>
                <a:spcPts val="350"/>
              </a:spcAft>
              <a:buNone/>
            </a:pPr>
            <a:endParaRPr lang="en-US" altLang="en-US" sz="1200" dirty="0">
              <a:solidFill>
                <a:srgbClr val="14272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61475" y="5786239"/>
            <a:ext cx="3586370" cy="545703"/>
          </a:xfrm>
          <a:prstGeom prst="roundRect">
            <a:avLst>
              <a:gd name="adj" fmla="val 16780"/>
            </a:avLst>
          </a:prstGeom>
          <a:solidFill>
            <a:srgbClr val="D8DDE9">
              <a:alpha val="95000"/>
            </a:srgbClr>
          </a:solidFill>
          <a:ln w="12700">
            <a:solidFill>
              <a:srgbClr val="A8B1C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5871" y="5900638"/>
            <a:ext cx="3357578" cy="1589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Online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75871" y="6092428"/>
            <a:ext cx="3357578" cy="125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$297.53M · </a:t>
            </a:r>
            <a:r>
              <a:rPr lang="en-US" sz="12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79% margin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302613" y="5786239"/>
            <a:ext cx="3586370" cy="545703"/>
          </a:xfrm>
          <a:prstGeom prst="roundRect">
            <a:avLst>
              <a:gd name="adj" fmla="val 16780"/>
            </a:avLst>
          </a:prstGeom>
          <a:solidFill>
            <a:srgbClr val="D8DDE9">
              <a:alpha val="95000"/>
            </a:srgbClr>
          </a:solidFill>
          <a:ln w="12700">
            <a:solidFill>
              <a:srgbClr val="A8B1C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417009" y="5900638"/>
            <a:ext cx="3357578" cy="1589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Retail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417009" y="6092428"/>
            <a:ext cx="3357578" cy="125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$285.68M · </a:t>
            </a:r>
            <a:r>
              <a:rPr lang="en-US" sz="12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81% margin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943750" y="5786239"/>
            <a:ext cx="3586470" cy="545703"/>
          </a:xfrm>
          <a:prstGeom prst="roundRect">
            <a:avLst>
              <a:gd name="adj" fmla="val 16780"/>
            </a:avLst>
          </a:prstGeom>
          <a:solidFill>
            <a:srgbClr val="D8DDE9">
              <a:alpha val="95000"/>
            </a:srgbClr>
          </a:solidFill>
          <a:ln w="12700">
            <a:solidFill>
              <a:srgbClr val="A8B1C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58147" y="5900638"/>
            <a:ext cx="3357677" cy="1589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058147" y="6092428"/>
            <a:ext cx="3357677" cy="125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$281.40M · </a:t>
            </a:r>
            <a:r>
              <a:rPr lang="en-US" sz="12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80% margin</a:t>
            </a:r>
            <a:endParaRPr lang="en-US" sz="1200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/>
          <a:srcRect t="11905"/>
          <a:stretch>
            <a:fillRect/>
          </a:stretch>
        </p:blipFill>
        <p:spPr>
          <a:xfrm>
            <a:off x="6995160" y="983615"/>
            <a:ext cx="3604895" cy="2916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7A8D7">
                <a:lumMod val="60000"/>
                <a:lumOff val="40000"/>
                <a:alpha val="90000"/>
              </a:srgbClr>
            </a:gs>
            <a:gs pos="33000">
              <a:srgbClr val="D1E8E9">
                <a:alpha val="100000"/>
              </a:srgbClr>
            </a:gs>
            <a:gs pos="70000">
              <a:srgbClr val="19A382">
                <a:lumMod val="10000"/>
                <a:lumOff val="90000"/>
                <a:alpha val="38000"/>
              </a:srgbClr>
            </a:gs>
            <a:gs pos="100000">
              <a:srgbClr val="38BA6C">
                <a:lumMod val="63000"/>
                <a:lumOff val="37000"/>
              </a:srgbClr>
            </a:gs>
          </a:gsLst>
          <a:lin ang="157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79393"/>
            <a:ext cx="10868745" cy="311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Customer Base is Well-Diversified &amp; Low-Risk</a:t>
            </a:r>
            <a:endParaRPr lang="en-US" sz="24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954405"/>
            <a:ext cx="5812790" cy="3128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61929"/>
            <a:ext cx="10868745" cy="1559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6A6A62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Segment Distribution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61475" y="4446885"/>
            <a:ext cx="1983631" cy="124718"/>
          </a:xfrm>
          <a:prstGeom prst="roundRect">
            <a:avLst>
              <a:gd name="adj" fmla="val 49999"/>
            </a:avLst>
          </a:prstGeom>
          <a:noFill/>
          <a:scene3d>
            <a:camera prst="isometricRightU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</p:sp>
      <p:sp>
        <p:nvSpPr>
          <p:cNvPr id="6" name="Shape 3"/>
          <p:cNvSpPr/>
          <p:nvPr/>
        </p:nvSpPr>
        <p:spPr>
          <a:xfrm>
            <a:off x="661475" y="4446885"/>
            <a:ext cx="733903" cy="124718"/>
          </a:xfrm>
          <a:prstGeom prst="roundRect">
            <a:avLst>
              <a:gd name="adj" fmla="val 49999"/>
            </a:avLst>
          </a:prstGeom>
          <a:solidFill>
            <a:srgbClr val="19A382"/>
          </a:solidFill>
        </p:spPr>
      </p:sp>
      <p:sp>
        <p:nvSpPr>
          <p:cNvPr id="7" name="Text 4"/>
          <p:cNvSpPr/>
          <p:nvPr/>
        </p:nvSpPr>
        <p:spPr>
          <a:xfrm>
            <a:off x="2719915" y="4446786"/>
            <a:ext cx="267785" cy="124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37%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1475" y="4660999"/>
            <a:ext cx="3578929" cy="1559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Retail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1475" y="4848523"/>
            <a:ext cx="3578929" cy="1219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$320.19M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306284" y="4446885"/>
            <a:ext cx="1872905" cy="124718"/>
          </a:xfrm>
          <a:prstGeom prst="roundRect">
            <a:avLst>
              <a:gd name="adj" fmla="val 49999"/>
            </a:avLst>
          </a:prstGeom>
          <a:noFill/>
          <a:scene3d>
            <a:camera prst="isometricRightU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</p:sp>
      <p:sp>
        <p:nvSpPr>
          <p:cNvPr id="11" name="Shape 8"/>
          <p:cNvSpPr/>
          <p:nvPr/>
        </p:nvSpPr>
        <p:spPr>
          <a:xfrm>
            <a:off x="4306284" y="4446885"/>
            <a:ext cx="608692" cy="124718"/>
          </a:xfrm>
          <a:prstGeom prst="roundRect">
            <a:avLst>
              <a:gd name="adj" fmla="val 49999"/>
            </a:avLst>
          </a:prstGeom>
          <a:solidFill>
            <a:srgbClr val="07A8D7"/>
          </a:solidFill>
        </p:spPr>
      </p:sp>
      <p:sp>
        <p:nvSpPr>
          <p:cNvPr id="12" name="Text 9"/>
          <p:cNvSpPr/>
          <p:nvPr/>
        </p:nvSpPr>
        <p:spPr>
          <a:xfrm>
            <a:off x="6253998" y="4446786"/>
            <a:ext cx="378609" cy="124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32.5%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06284" y="4660999"/>
            <a:ext cx="3579028" cy="1559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Online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06284" y="4848523"/>
            <a:ext cx="3579028" cy="1219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$280.58M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7951192" y="4446885"/>
            <a:ext cx="1872905" cy="124718"/>
          </a:xfrm>
          <a:prstGeom prst="roundRect">
            <a:avLst>
              <a:gd name="adj" fmla="val 49999"/>
            </a:avLst>
          </a:prstGeom>
          <a:noFill/>
          <a:scene3d>
            <a:camera prst="isometricRightU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</p:sp>
      <p:sp>
        <p:nvSpPr>
          <p:cNvPr id="16" name="Shape 13"/>
          <p:cNvSpPr/>
          <p:nvPr/>
        </p:nvSpPr>
        <p:spPr>
          <a:xfrm>
            <a:off x="7951192" y="4446885"/>
            <a:ext cx="571188" cy="124718"/>
          </a:xfrm>
          <a:prstGeom prst="roundRect">
            <a:avLst>
              <a:gd name="adj" fmla="val 49999"/>
            </a:avLst>
          </a:prstGeom>
          <a:solidFill>
            <a:srgbClr val="F43308"/>
          </a:solidFill>
        </p:spPr>
      </p:sp>
      <p:sp>
        <p:nvSpPr>
          <p:cNvPr id="17" name="Text 14"/>
          <p:cNvSpPr/>
          <p:nvPr/>
        </p:nvSpPr>
        <p:spPr>
          <a:xfrm>
            <a:off x="9898906" y="4446786"/>
            <a:ext cx="378609" cy="124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30.5%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951192" y="4660999"/>
            <a:ext cx="3579028" cy="1559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951192" y="4848523"/>
            <a:ext cx="3579028" cy="1219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$263.83M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61475" y="5019536"/>
            <a:ext cx="11478330" cy="1219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All segments within </a:t>
            </a:r>
            <a:r>
              <a:rPr lang="en-US" sz="16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0.7% of each other</a:t>
            </a:r>
            <a:r>
              <a:rPr lang="en-US" sz="16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– exceptional balance.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61475" y="5306893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214011">
              <a:alpha val="50000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661475" y="5414784"/>
            <a:ext cx="10868745" cy="402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altLang="en-US" sz="1600" dirty="0"/>
              <a:t>Low customer concentration reduces revenue risk. However, vendor concentration suggests dependency risk and cost optimization opportunities.</a:t>
            </a:r>
            <a:endParaRPr lang="en-US" alt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1475" y="6049268"/>
            <a:ext cx="10868745" cy="271859"/>
          </a:xfrm>
          <a:prstGeom prst="roundRect">
            <a:avLst>
              <a:gd name="adj" fmla="val 33048"/>
            </a:avLst>
          </a:prstGeom>
          <a:solidFill>
            <a:srgbClr val="D2EDF9"/>
          </a:solidFill>
        </p:spPr>
      </p:sp>
      <p:sp>
        <p:nvSpPr>
          <p:cNvPr id="26" name="Text 22"/>
          <p:cNvSpPr/>
          <p:nvPr/>
        </p:nvSpPr>
        <p:spPr>
          <a:xfrm>
            <a:off x="814998" y="6083677"/>
            <a:ext cx="11054180" cy="1219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Top 10 customers = only ~4.5% of total revenue – </a:t>
            </a:r>
            <a:r>
              <a:rPr lang="en-US" sz="1200" b="1" dirty="0">
                <a:solidFill>
                  <a:srgbClr val="00000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low concentration risk</a:t>
            </a:r>
            <a:r>
              <a:rPr lang="en-US" sz="12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 Strengthen mid-tier customers via cross-selling to boost average transaction value.</a:t>
            </a:r>
            <a:endParaRPr lang="en-US" sz="12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305" y="915670"/>
            <a:ext cx="3942080" cy="3209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44000"/>
                <a:lumOff val="56000"/>
              </a:schemeClr>
            </a:gs>
            <a:gs pos="0">
              <a:srgbClr val="FF0000">
                <a:lumMod val="44000"/>
                <a:lumOff val="56000"/>
                <a:alpha val="90000"/>
              </a:srgbClr>
            </a:gs>
            <a:gs pos="50000">
              <a:srgbClr val="E3FBF5">
                <a:alpha val="57000"/>
                <a:lumMod val="60000"/>
                <a:lumOff val="40000"/>
              </a:srgbClr>
            </a:gs>
            <a:gs pos="70000">
              <a:schemeClr val="accent3">
                <a:lumMod val="91000"/>
                <a:alpha val="33000"/>
                <a:lumOff val="9000"/>
              </a:scheme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111"/>
            <a:ext cx="10868745" cy="2999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6A6A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Expense Growth is Controlled, but Budget Overruns Demand Action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1141730"/>
            <a:ext cx="5179695" cy="29552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400451"/>
            <a:ext cx="5317297" cy="149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6A6A62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Overall Performance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61475" y="4605139"/>
            <a:ext cx="2634291" cy="506214"/>
          </a:xfrm>
          <a:prstGeom prst="roundRect">
            <a:avLst>
              <a:gd name="adj" fmla="val 17065"/>
            </a:avLst>
          </a:prstGeom>
          <a:solidFill>
            <a:srgbClr val="5E208E"/>
          </a:solidFill>
        </p:spPr>
      </p:sp>
      <p:sp>
        <p:nvSpPr>
          <p:cNvPr id="6" name="Text 3"/>
          <p:cNvSpPr/>
          <p:nvPr/>
        </p:nvSpPr>
        <p:spPr>
          <a:xfrm>
            <a:off x="757417" y="4701084"/>
            <a:ext cx="2442407" cy="149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Actual Expense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57417" y="4899720"/>
            <a:ext cx="2442407" cy="1156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$167.74M vs. Budget $104.27M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44481" y="4605139"/>
            <a:ext cx="2634291" cy="506214"/>
          </a:xfrm>
          <a:prstGeom prst="roundRect">
            <a:avLst>
              <a:gd name="adj" fmla="val 17065"/>
            </a:avLst>
          </a:prstGeom>
          <a:solidFill>
            <a:srgbClr val="5E208E"/>
          </a:solidFill>
        </p:spPr>
      </p:sp>
      <p:sp>
        <p:nvSpPr>
          <p:cNvPr id="9" name="Text 6"/>
          <p:cNvSpPr/>
          <p:nvPr/>
        </p:nvSpPr>
        <p:spPr>
          <a:xfrm>
            <a:off x="3440423" y="4701084"/>
            <a:ext cx="2442407" cy="149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Overrun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40423" y="4899720"/>
            <a:ext cx="2442407" cy="1156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+$63.48M — 60.9% above budget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1475" y="5160070"/>
            <a:ext cx="5317297" cy="506214"/>
          </a:xfrm>
          <a:prstGeom prst="roundRect">
            <a:avLst>
              <a:gd name="adj" fmla="val 17065"/>
            </a:avLst>
          </a:prstGeom>
          <a:solidFill>
            <a:srgbClr val="5E208E"/>
          </a:solidFill>
        </p:spPr>
      </p:sp>
      <p:sp>
        <p:nvSpPr>
          <p:cNvPr id="12" name="Text 9"/>
          <p:cNvSpPr/>
          <p:nvPr/>
        </p:nvSpPr>
        <p:spPr>
          <a:xfrm>
            <a:off x="757417" y="5256014"/>
            <a:ext cx="5125413" cy="149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Expense Growth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57417" y="5454650"/>
            <a:ext cx="5125413" cy="1156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32% vs. Revenue Growth: 87%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19273" y="4331236"/>
            <a:ext cx="5317297" cy="149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Top Expense Categories</a:t>
            </a:r>
            <a:endParaRPr lang="en-US" sz="1400" dirty="0">
              <a:solidFill>
                <a:schemeClr val="accent2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78633" y="4604802"/>
            <a:ext cx="5317297" cy="2313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Rent + Payroll = 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81.6% of total expenses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– limited flexibility. Launch zero-based budgeting review and renegotiate vendor contracts.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01000"/>
              </a:lnSpc>
              <a:buNone/>
            </a:pPr>
            <a:r>
              <a:rPr lang="en-US" altLang="en-US" sz="12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lower expense growth rate compared to revenue indicates effective scaling. However, the</a:t>
            </a:r>
            <a:r>
              <a:rPr lang="en-US" altLang="en-US" sz="1200" b="1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altLang="en-US" sz="1200" b="1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60.9% budget overrun </a:t>
            </a:r>
            <a:r>
              <a:rPr lang="en-US" altLang="en-US" sz="12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suggests budgeting processes need revision. The concentration of expenses in Rent and Payroll (81.6%) limits flexibility.</a:t>
            </a:r>
            <a:endParaRPr lang="en-US" altLang="en-US" sz="1200" dirty="0">
              <a:solidFill>
                <a:schemeClr val="accent2">
                  <a:lumMod val="75000"/>
                </a:schemeClr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01000"/>
              </a:lnSpc>
              <a:buNone/>
            </a:pPr>
            <a:endParaRPr lang="en-US" altLang="en-US" sz="1200" dirty="0">
              <a:solidFill>
                <a:schemeClr val="accent2">
                  <a:lumMod val="75000"/>
                </a:schemeClr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775821"/>
            <a:ext cx="2680625" cy="5120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0915" y="5921931"/>
            <a:ext cx="2412543" cy="149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Rent — 48.8%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185530" y="5913695"/>
            <a:ext cx="2412543" cy="1156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 fontAlgn="t">
              <a:lnSpc>
                <a:spcPct val="101000"/>
              </a:lnSpc>
              <a:buNone/>
            </a:pPr>
            <a:r>
              <a:rPr lang="en-US" sz="14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$81.8M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0815" y="5775821"/>
            <a:ext cx="2680625" cy="5120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74386" y="5921931"/>
            <a:ext cx="2412543" cy="149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Payroll — 32.8%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947958" y="5913695"/>
            <a:ext cx="2412365" cy="1156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 fontAlgn="t">
              <a:lnSpc>
                <a:spcPct val="101000"/>
              </a:lnSpc>
              <a:buNone/>
            </a:pPr>
            <a:r>
              <a:rPr lang="en-US" sz="14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$55.1M</a:t>
            </a:r>
            <a:endParaRPr lang="en-US" sz="1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0155" y="5775821"/>
            <a:ext cx="2680625" cy="5120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79596" y="5921931"/>
            <a:ext cx="2412543" cy="149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Supplies — 11.6%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710208" y="5913695"/>
            <a:ext cx="2412365" cy="1156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 fontAlgn="t">
              <a:lnSpc>
                <a:spcPct val="101000"/>
              </a:lnSpc>
              <a:buNone/>
            </a:pPr>
            <a:r>
              <a:rPr lang="en-US" sz="14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$19.5M</a:t>
            </a:r>
            <a:endParaRPr lang="en-US" sz="14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9496" y="5775821"/>
            <a:ext cx="2680724" cy="5120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08936" y="5921931"/>
            <a:ext cx="2412642" cy="149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Utilities — 6.8%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0472458" y="5913695"/>
            <a:ext cx="2412365" cy="1156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 fontAlgn="t">
              <a:lnSpc>
                <a:spcPct val="101000"/>
              </a:lnSpc>
              <a:buNone/>
            </a:pPr>
            <a:r>
              <a:rPr lang="en-US" sz="14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$11.4M</a:t>
            </a:r>
            <a:endParaRPr lang="en-US" sz="14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420" y="1158875"/>
            <a:ext cx="5850255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44000"/>
                <a:lumOff val="56000"/>
              </a:schemeClr>
            </a:gs>
            <a:gs pos="0">
              <a:srgbClr val="F5F6D7"/>
            </a:gs>
            <a:gs pos="50000">
              <a:srgbClr val="EEFDF9">
                <a:lumMod val="60000"/>
                <a:lumOff val="40000"/>
                <a:alpha val="57000"/>
              </a:srgbClr>
            </a:gs>
            <a:gs pos="70000">
              <a:schemeClr val="accent3">
                <a:lumMod val="91000"/>
                <a:lumOff val="9000"/>
                <a:alpha val="33000"/>
              </a:scheme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312"/>
            <a:ext cx="10868745" cy="3299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Employee Productivity Varies Significantly – Opportunity for Knowledge Transfer</a:t>
            </a:r>
            <a:endParaRPr lang="en-US" sz="2000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810" y="989965"/>
            <a:ext cx="5581650" cy="3472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6835" y="4805164"/>
            <a:ext cx="2322950" cy="348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4.15x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1475" y="5240397"/>
            <a:ext cx="3573770" cy="1649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0070C0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Enterprise</a:t>
            </a:r>
            <a:endParaRPr lang="en-US" sz="1200" dirty="0">
              <a:solidFill>
                <a:srgbClr val="0070C0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1475" y="5471100"/>
            <a:ext cx="3573770" cy="131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Highest efficiency — 57 active employees</a:t>
            </a:r>
            <a:endParaRPr lang="en-US" sz="14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34323" y="4805164"/>
            <a:ext cx="2322950" cy="348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3.90x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4308963" y="5240397"/>
            <a:ext cx="3573770" cy="1649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7030A0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Retail</a:t>
            </a:r>
            <a:endParaRPr lang="en-US" sz="1200" dirty="0">
              <a:solidFill>
                <a:srgbClr val="7030A0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08963" y="5471100"/>
            <a:ext cx="3573770" cy="131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61 active employees | Avg CTC: $1.11M</a:t>
            </a:r>
            <a:endParaRPr lang="en-US" sz="14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81810" y="4805164"/>
            <a:ext cx="2322950" cy="348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3.64x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7956450" y="5240397"/>
            <a:ext cx="3573770" cy="1649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00B050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Online</a:t>
            </a:r>
            <a:endParaRPr lang="en-US" sz="1200" dirty="0">
              <a:solidFill>
                <a:srgbClr val="00B050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56450" y="5471100"/>
            <a:ext cx="3573770" cy="131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68 active employees | </a:t>
            </a:r>
            <a:r>
              <a:rPr lang="en-US" sz="14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20% gap vs. Enterprise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1475" y="6004223"/>
            <a:ext cx="10868745" cy="296366"/>
          </a:xfrm>
          <a:prstGeom prst="roundRect">
            <a:avLst>
              <a:gd name="adj" fmla="val 32064"/>
            </a:avLst>
          </a:prstGeom>
          <a:solidFill>
            <a:srgbClr val="D2EDF9"/>
          </a:solidFill>
        </p:spPr>
      </p:sp>
      <p:sp>
        <p:nvSpPr>
          <p:cNvPr id="16" name="Text 12"/>
          <p:cNvSpPr/>
          <p:nvPr/>
        </p:nvSpPr>
        <p:spPr>
          <a:xfrm>
            <a:off x="1370325" y="6059071"/>
            <a:ext cx="11029674" cy="131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Recommendation:</a:t>
            </a:r>
            <a:r>
              <a:rPr lang="en-US" sz="12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Replicate Enterprise's best practices across Online and Retail; consider rebalancing headcount to higher-ROI units.</a:t>
            </a:r>
            <a:endParaRPr lang="en-US" sz="12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085" y="989965"/>
            <a:ext cx="5893435" cy="3484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44000"/>
                <a:lumOff val="56000"/>
              </a:schemeClr>
            </a:gs>
            <a:gs pos="0">
              <a:srgbClr val="002060"/>
            </a:gs>
            <a:gs pos="50000">
              <a:srgbClr val="F9FEFD">
                <a:lumMod val="60000"/>
                <a:lumOff val="40000"/>
                <a:alpha val="57000"/>
              </a:srgbClr>
            </a:gs>
            <a:gs pos="96000">
              <a:schemeClr val="accent3">
                <a:lumMod val="91000"/>
                <a:lumOff val="9000"/>
                <a:alpha val="33000"/>
              </a:scheme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732"/>
            <a:ext cx="10868745" cy="3718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Regions </a:t>
            </a:r>
            <a:r>
              <a:rPr lang="en-IN" altLang="en-US" sz="23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wise </a:t>
            </a:r>
            <a:r>
              <a:rPr lang="en-US" sz="23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Profitable</a:t>
            </a:r>
            <a:r>
              <a:rPr lang="en-IN" altLang="en-US" sz="23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 -</a:t>
            </a:r>
            <a:endParaRPr lang="en-IN" altLang="en-US" sz="230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945" y="1076325"/>
            <a:ext cx="8667750" cy="33864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621808"/>
            <a:ext cx="5289219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6A6A62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Revenue by Region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670" y="4807585"/>
            <a:ext cx="5332730" cy="1470025"/>
          </a:xfrm>
          <a:prstGeom prst="roundRect">
            <a:avLst>
              <a:gd name="adj" fmla="val 8073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1475" y="5159375"/>
            <a:ext cx="5289219" cy="7439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661475" y="5423495"/>
            <a:ext cx="5289219" cy="7439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661475" y="5687616"/>
            <a:ext cx="5289219" cy="7439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661475" y="5951736"/>
            <a:ext cx="5289219" cy="7439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787480" y="4949726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Region</a:t>
            </a:r>
            <a:endParaRPr lang="en-US" sz="1200" b="1" dirty="0">
              <a:solidFill>
                <a:srgbClr val="214011"/>
              </a:solidFill>
              <a:latin typeface="Roboto Bold" panose="02000000000000000000" pitchFamily="34" charset="0"/>
              <a:ea typeface="Roboto Bold" panose="02000000000000000000" pitchFamily="34" charset="-122"/>
              <a:cs typeface="Roboto Bold" panose="02000000000000000000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545889" y="4949726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Revenue</a:t>
            </a:r>
            <a:endParaRPr lang="en-US" sz="1200" b="1" dirty="0">
              <a:solidFill>
                <a:srgbClr val="214011"/>
              </a:solidFill>
              <a:latin typeface="Roboto Bold" panose="02000000000000000000" pitchFamily="34" charset="0"/>
              <a:ea typeface="Roboto Bold" panose="02000000000000000000" pitchFamily="34" charset="-122"/>
              <a:cs typeface="Roboto Bold" panose="02000000000000000000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04299" y="4949726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Headcount</a:t>
            </a:r>
            <a:endParaRPr lang="en-US" sz="1200" b="1" dirty="0">
              <a:solidFill>
                <a:srgbClr val="214011"/>
              </a:solidFill>
              <a:latin typeface="Roboto Bold" panose="02000000000000000000" pitchFamily="34" charset="0"/>
              <a:ea typeface="Roboto Bold" panose="02000000000000000000" pitchFamily="34" charset="-122"/>
              <a:cs typeface="Roboto Bold" panose="02000000000000000000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87480" y="5213846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East</a:t>
            </a:r>
            <a:endParaRPr lang="en-US" sz="12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545889" y="5213846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$221.44M</a:t>
            </a:r>
            <a:endParaRPr lang="en-US" sz="12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304299" y="5213846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50</a:t>
            </a:r>
            <a:endParaRPr lang="en-US" sz="12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7480" y="5477966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North</a:t>
            </a:r>
            <a:endParaRPr lang="en-US" sz="12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545889" y="5477966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$221.28M</a:t>
            </a:r>
            <a:endParaRPr lang="en-US" sz="12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304299" y="5477966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60</a:t>
            </a:r>
            <a:endParaRPr lang="en-US" sz="12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87480" y="5742087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South</a:t>
            </a:r>
            <a:endParaRPr lang="en-US" sz="12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545889" y="5742087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$215.47M</a:t>
            </a:r>
            <a:endParaRPr lang="en-US" sz="12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304299" y="5742087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43</a:t>
            </a:r>
            <a:endParaRPr lang="en-US" sz="12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87480" y="6006207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West</a:t>
            </a:r>
            <a:endParaRPr lang="en-US" sz="1200" b="1" dirty="0">
              <a:solidFill>
                <a:srgbClr val="214011"/>
              </a:solidFill>
              <a:latin typeface="Roboto Bold" panose="02000000000000000000" pitchFamily="34" charset="0"/>
              <a:ea typeface="Roboto Bold" panose="02000000000000000000" pitchFamily="34" charset="-122"/>
              <a:cs typeface="Roboto Bold" panose="02000000000000000000" pitchFamily="34" charset="-12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545889" y="6006207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$206.42M</a:t>
            </a:r>
            <a:endParaRPr lang="en-US" sz="1200" b="1" dirty="0">
              <a:solidFill>
                <a:srgbClr val="214011"/>
              </a:solidFill>
              <a:latin typeface="Roboto Bold" panose="02000000000000000000" pitchFamily="34" charset="0"/>
              <a:ea typeface="Roboto Bold" panose="02000000000000000000" pitchFamily="34" charset="-122"/>
              <a:cs typeface="Roboto Bold" panose="02000000000000000000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304299" y="6006207"/>
            <a:ext cx="2130074" cy="155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47</a:t>
            </a:r>
            <a:endParaRPr lang="en-US" sz="12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247351" y="4621808"/>
            <a:ext cx="5289219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70C0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Expense Efficiency &amp; Profitability</a:t>
            </a:r>
            <a:endParaRPr lang="en-US" sz="1150" dirty="0">
              <a:solidFill>
                <a:srgbClr val="0070C0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247130" y="4882515"/>
            <a:ext cx="5288915" cy="7854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82880" indent="-182880" algn="l">
              <a:lnSpc>
                <a:spcPct val="109000"/>
              </a:lnSpc>
              <a:buSzPct val="100000"/>
              <a:buChar char="•"/>
            </a:pPr>
            <a:r>
              <a:rPr lang="en-US" sz="11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West has the </a:t>
            </a:r>
            <a:r>
              <a:rPr lang="en-US" sz="11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best expense-to-revenue ratio (19.1%)</a:t>
            </a:r>
            <a:r>
              <a:rPr lang="en-US" sz="11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but the lowest revenue</a:t>
            </a:r>
            <a:endParaRPr lang="en-US" sz="1100" dirty="0"/>
          </a:p>
          <a:p>
            <a:pPr marL="182880" indent="-182880" algn="l">
              <a:lnSpc>
                <a:spcPct val="109000"/>
              </a:lnSpc>
              <a:buSzPct val="100000"/>
              <a:buChar char="•"/>
            </a:pPr>
            <a:r>
              <a:rPr lang="en-US" sz="11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All regions maintain </a:t>
            </a:r>
            <a:r>
              <a:rPr lang="en-US" sz="11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&gt;80% profit margins</a:t>
            </a:r>
            <a:endParaRPr lang="en-US" sz="1100" b="1" dirty="0">
              <a:solidFill>
                <a:srgbClr val="214011"/>
              </a:solidFill>
              <a:latin typeface="Roboto Bold" panose="02000000000000000000" pitchFamily="34" charset="0"/>
              <a:ea typeface="Roboto Bold" panose="02000000000000000000" pitchFamily="34" charset="-122"/>
              <a:cs typeface="Roboto Bold" panose="02000000000000000000" pitchFamily="34" charset="-120"/>
            </a:endParaRPr>
          </a:p>
          <a:p>
            <a:pPr marL="182880" indent="-182880" algn="l">
              <a:lnSpc>
                <a:spcPct val="109000"/>
              </a:lnSpc>
              <a:buSzPct val="100000"/>
              <a:buChar char="•"/>
            </a:pPr>
            <a:r>
              <a:rPr lang="en-US" altLang="en-US" sz="1100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The consistent high profitability across all units indicates effective business model replication. The 102% profit growth demonstrates strong operational leverage and market execution.</a:t>
            </a:r>
            <a:endParaRPr lang="en-US" altLang="en-US" sz="1100" dirty="0">
              <a:solidFill>
                <a:srgbClr val="214011"/>
              </a:solidFill>
              <a:latin typeface="Roboto Bold" panose="02000000000000000000" pitchFamily="34" charset="0"/>
              <a:ea typeface="Roboto Bold" panose="02000000000000000000" pitchFamily="34" charset="-122"/>
              <a:cs typeface="Roboto Bold" panose="02000000000000000000" pitchFamily="34" charset="-120"/>
            </a:endParaRPr>
          </a:p>
          <a:p>
            <a:pPr marL="182880" indent="-182880" algn="l">
              <a:lnSpc>
                <a:spcPct val="109000"/>
              </a:lnSpc>
              <a:buSzPct val="100000"/>
              <a:buChar char="•"/>
            </a:pPr>
            <a:endParaRPr lang="en-US" altLang="en-US" sz="1100" dirty="0">
              <a:solidFill>
                <a:srgbClr val="214011"/>
              </a:solidFill>
              <a:latin typeface="Roboto Bold" panose="02000000000000000000" pitchFamily="34" charset="0"/>
              <a:ea typeface="Roboto Bold" panose="02000000000000000000" pitchFamily="34" charset="-122"/>
              <a:cs typeface="Roboto Bold" panose="02000000000000000000" pitchFamily="34" charset="-12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241636" y="5916950"/>
            <a:ext cx="5289219" cy="504428"/>
          </a:xfrm>
          <a:prstGeom prst="roundRect">
            <a:avLst>
              <a:gd name="adj" fmla="val 21236"/>
            </a:avLst>
          </a:prstGeom>
          <a:solidFill>
            <a:srgbClr val="D2EDF9"/>
          </a:solidFill>
        </p:spPr>
        <p:txBody>
          <a:bodyPr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500647" y="5985411"/>
            <a:ext cx="4783613" cy="3103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Recommendation:</a:t>
            </a:r>
            <a:r>
              <a:rPr lang="en-US" sz="1000" dirty="0">
                <a:solidFill>
                  <a:schemeClr val="accent6">
                    <a:lumMod val="50000"/>
                  </a:schemeClr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Invest in West region's sales capacity while maintaining its cost efficiency — use it as a benchmark for other regions.</a:t>
            </a:r>
            <a:endParaRPr lang="en-US" sz="1000" dirty="0">
              <a:solidFill>
                <a:schemeClr val="accent6">
                  <a:lumMod val="50000"/>
                </a:schemeClr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44000"/>
                <a:lumOff val="56000"/>
              </a:schemeClr>
            </a:gs>
            <a:gs pos="0">
              <a:srgbClr val="FFC000"/>
            </a:gs>
            <a:gs pos="50000">
              <a:srgbClr val="F5FEFB">
                <a:lumMod val="60000"/>
                <a:lumOff val="40000"/>
                <a:alpha val="57000"/>
              </a:srgbClr>
            </a:gs>
            <a:gs pos="96000">
              <a:schemeClr val="accent3">
                <a:lumMod val="91000"/>
                <a:lumOff val="9000"/>
                <a:alpha val="33000"/>
              </a:schemeClr>
            </a:gs>
          </a:gsLst>
          <a:lin ang="118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230"/>
            <a:ext cx="10868745" cy="10632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9D8C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Vendor Costs are Concentrated – Opportunity for Savings</a:t>
            </a:r>
            <a:endParaRPr lang="en-US" sz="3200" dirty="0">
              <a:solidFill>
                <a:srgbClr val="9D8C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805265"/>
            <a:ext cx="5226911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6A6A62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Top Vendors by Expense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61475" y="2243217"/>
            <a:ext cx="5226911" cy="3062486"/>
          </a:xfrm>
          <a:prstGeom prst="roundRect">
            <a:avLst>
              <a:gd name="adj" fmla="val 4999"/>
            </a:avLst>
          </a:prstGeom>
          <a:solidFill>
            <a:schemeClr val="bg1"/>
          </a:solidFill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249567"/>
            <a:ext cx="5213616" cy="4548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68420" y="2249567"/>
            <a:ext cx="1737674" cy="454819"/>
          </a:xfrm>
          <a:custGeom>
            <a:avLst/>
            <a:gdLst/>
            <a:ahLst/>
            <a:cxnLst/>
            <a:rect l="l" t="t" r="r" b="b"/>
            <a:pathLst>
              <a:path w="1737674" h="454819">
                <a:moveTo>
                  <a:pt x="127587" y="0"/>
                </a:moveTo>
                <a:lnTo>
                  <a:pt x="1737674" y="0"/>
                </a:lnTo>
                <a:lnTo>
                  <a:pt x="1737674" y="454819"/>
                </a:lnTo>
                <a:lnTo>
                  <a:pt x="0" y="454819"/>
                </a:lnTo>
                <a:lnTo>
                  <a:pt x="0" y="127591"/>
                </a:lnTo>
                <a:arcTo wR="127587" hR="127591" stAng="10800000" swAng="5400000"/>
                <a:close/>
              </a:path>
            </a:pathLst>
          </a:custGeom>
          <a:solidFill>
            <a:schemeClr val="bg1"/>
          </a:solidFill>
        </p:spPr>
      </p:sp>
      <p:sp>
        <p:nvSpPr>
          <p:cNvPr id="7" name="Text 5"/>
          <p:cNvSpPr/>
          <p:nvPr/>
        </p:nvSpPr>
        <p:spPr>
          <a:xfrm>
            <a:off x="838477" y="2347694"/>
            <a:ext cx="2003970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Vendor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06094" y="2249567"/>
            <a:ext cx="1737674" cy="454819"/>
          </a:xfrm>
          <a:prstGeom prst="rect">
            <a:avLst/>
          </a:prstGeom>
          <a:solidFill>
            <a:schemeClr val="bg1"/>
          </a:solidFill>
        </p:spPr>
        <p:txBody>
          <a:bodyPr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79325" y="2347694"/>
            <a:ext cx="2000795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43767" y="2249567"/>
            <a:ext cx="1737674" cy="454819"/>
          </a:xfrm>
          <a:custGeom>
            <a:avLst/>
            <a:gdLst/>
            <a:ahLst/>
            <a:cxnLst/>
            <a:rect l="l" t="t" r="r" b="b"/>
            <a:pathLst>
              <a:path w="1737674" h="454819">
                <a:moveTo>
                  <a:pt x="0" y="0"/>
                </a:moveTo>
                <a:lnTo>
                  <a:pt x="1610086" y="0"/>
                </a:lnTo>
                <a:arcTo wR="127587" hR="127591" stAng="16200000" swAng="5400000"/>
                <a:lnTo>
                  <a:pt x="1737674" y="454819"/>
                </a:lnTo>
                <a:lnTo>
                  <a:pt x="0" y="45481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</p:sp>
      <p:sp>
        <p:nvSpPr>
          <p:cNvPr id="11" name="Text 9"/>
          <p:cNvSpPr/>
          <p:nvPr/>
        </p:nvSpPr>
        <p:spPr>
          <a:xfrm>
            <a:off x="4316999" y="2347694"/>
            <a:ext cx="2003970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Expense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825" y="2704386"/>
            <a:ext cx="5213616" cy="71338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838477" y="2802513"/>
            <a:ext cx="1394385" cy="517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Crawford, Solis &amp; Jackson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9325" y="2802513"/>
            <a:ext cx="2000795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Supplies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16999" y="2802513"/>
            <a:ext cx="2003970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$2.83M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825" y="3417768"/>
            <a:ext cx="5213616" cy="4548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838477" y="3515896"/>
            <a:ext cx="2003970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Walker Inc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79325" y="3515896"/>
            <a:ext cx="2000795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Supplies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16999" y="3515896"/>
            <a:ext cx="2003970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$2.77M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825" y="3872587"/>
            <a:ext cx="5213616" cy="71338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838477" y="3970715"/>
            <a:ext cx="1394385" cy="517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Dorsey, Barrera &amp; Parker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79325" y="3970715"/>
            <a:ext cx="2000795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16999" y="3970715"/>
            <a:ext cx="2003970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$2.73M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825" y="4585970"/>
            <a:ext cx="5213616" cy="71338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838477" y="4684097"/>
            <a:ext cx="1394385" cy="517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Boyd, Lozano &amp; Gomez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79325" y="4684097"/>
            <a:ext cx="2000795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16999" y="4684097"/>
            <a:ext cx="2003970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$2.68M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475" y="5477947"/>
            <a:ext cx="5226911" cy="517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Top 5 vendors each exceed </a:t>
            </a:r>
            <a:r>
              <a:rPr lang="en-US" sz="13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$2.4M</a:t>
            </a: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high concentration creates dependency risk.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659" y="1886545"/>
            <a:ext cx="5226911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6A6A62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Vendor Portfolio Metrics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6309659" y="2324497"/>
            <a:ext cx="2536861" cy="1017488"/>
          </a:xfrm>
          <a:prstGeom prst="roundRect">
            <a:avLst>
              <a:gd name="adj" fmla="val 15047"/>
            </a:avLst>
          </a:prstGeom>
          <a:solidFill>
            <a:srgbClr val="FFA44F"/>
          </a:solidFill>
        </p:spPr>
      </p:sp>
      <p:sp>
        <p:nvSpPr>
          <p:cNvPr id="31" name="Text 29"/>
          <p:cNvSpPr/>
          <p:nvPr/>
        </p:nvSpPr>
        <p:spPr>
          <a:xfrm>
            <a:off x="6479715" y="2494558"/>
            <a:ext cx="2196747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Total Vendors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479715" y="2913360"/>
            <a:ext cx="2196747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120 active suppliers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99610" y="2324497"/>
            <a:ext cx="2536960" cy="1017488"/>
          </a:xfrm>
          <a:prstGeom prst="roundRect">
            <a:avLst>
              <a:gd name="adj" fmla="val 15047"/>
            </a:avLst>
          </a:prstGeom>
          <a:solidFill>
            <a:srgbClr val="995515"/>
          </a:solidFill>
        </p:spPr>
      </p:sp>
      <p:sp>
        <p:nvSpPr>
          <p:cNvPr id="34" name="Text 32"/>
          <p:cNvSpPr/>
          <p:nvPr/>
        </p:nvSpPr>
        <p:spPr>
          <a:xfrm>
            <a:off x="9169667" y="2494558"/>
            <a:ext cx="2196847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Mean Expense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169667" y="2913360"/>
            <a:ext cx="2196847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$1.40M per vendor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9659" y="3495080"/>
            <a:ext cx="5226911" cy="1017488"/>
          </a:xfrm>
          <a:prstGeom prst="roundRect">
            <a:avLst>
              <a:gd name="adj" fmla="val 15047"/>
            </a:avLst>
          </a:prstGeom>
          <a:solidFill>
            <a:schemeClr val="accent2">
              <a:lumMod val="75000"/>
              <a:alpha val="91000"/>
            </a:schemeClr>
          </a:solidFill>
        </p:spPr>
      </p:sp>
      <p:sp>
        <p:nvSpPr>
          <p:cNvPr id="37" name="Text 35"/>
          <p:cNvSpPr/>
          <p:nvPr/>
        </p:nvSpPr>
        <p:spPr>
          <a:xfrm>
            <a:off x="6479715" y="3665141"/>
            <a:ext cx="4886798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Median Expense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479715" y="4083943"/>
            <a:ext cx="4886798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$1.54M per vendor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09659" y="4786412"/>
            <a:ext cx="5226911" cy="1136055"/>
          </a:xfrm>
          <a:prstGeom prst="roundRect">
            <a:avLst>
              <a:gd name="adj" fmla="val 13477"/>
            </a:avLst>
          </a:prstGeom>
          <a:solidFill>
            <a:srgbClr val="D2EDF9"/>
          </a:solidFill>
        </p:spPr>
      </p:sp>
      <p:sp>
        <p:nvSpPr>
          <p:cNvPr id="41" name="Text 38"/>
          <p:cNvSpPr/>
          <p:nvPr/>
        </p:nvSpPr>
        <p:spPr>
          <a:xfrm>
            <a:off x="6862392" y="4966593"/>
            <a:ext cx="4504121" cy="7756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Recommendation:</a:t>
            </a:r>
            <a:r>
              <a:rPr lang="en-US" sz="13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Consolidate procurement with top vendors; renegotiate volume discounts; explore alternative suppliers for Utilities to reduce dependency risk.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44000"/>
                <a:lumOff val="56000"/>
              </a:schemeClr>
            </a:gs>
            <a:gs pos="0">
              <a:srgbClr val="1695CA"/>
            </a:gs>
            <a:gs pos="50000">
              <a:srgbClr val="F9FEFD">
                <a:lumMod val="60000"/>
                <a:lumOff val="40000"/>
                <a:alpha val="57000"/>
              </a:srgbClr>
            </a:gs>
            <a:gs pos="96000">
              <a:schemeClr val="accent3">
                <a:lumMod val="91000"/>
                <a:lumOff val="9000"/>
                <a:alpha val="33000"/>
              </a:scheme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774"/>
            <a:ext cx="10868745" cy="552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Strategic Recommendations – Four Pillars</a:t>
            </a:r>
            <a:endParaRPr lang="en-US" sz="34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57722"/>
            <a:ext cx="5351725" cy="249584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4785" y="1609328"/>
            <a:ext cx="265106" cy="2651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29" y="2172295"/>
            <a:ext cx="4960218" cy="2761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Revenue Optimization — </a:t>
            </a:r>
            <a:r>
              <a:rPr lang="en-US" sz="1700" dirty="0">
                <a:solidFill>
                  <a:srgbClr val="00B050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High Priority</a:t>
            </a:r>
            <a:endParaRPr lang="en-US" sz="1700" dirty="0">
              <a:solidFill>
                <a:srgbClr val="00B050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57229" y="2547541"/>
            <a:ext cx="4960218" cy="9366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Expand Enterprise Segment → </a:t>
            </a:r>
            <a:r>
              <a:rPr lang="en-US" sz="135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15–25% growth potential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Grow Service Category → </a:t>
            </a:r>
            <a:r>
              <a:rPr lang="en-US" sz="135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10–15% increase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Develop West Region → </a:t>
            </a:r>
            <a:r>
              <a:rPr lang="en-US" sz="135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5–10% growth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8495" y="1457722"/>
            <a:ext cx="5351725" cy="249584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21804" y="1609328"/>
            <a:ext cx="265106" cy="26511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374248" y="2172295"/>
            <a:ext cx="4960218" cy="2761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Expense Management — </a:t>
            </a:r>
            <a:r>
              <a:rPr lang="en-US" sz="1700" dirty="0">
                <a:solidFill>
                  <a:srgbClr val="FA325D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Critical Priority</a:t>
            </a:r>
            <a:endParaRPr lang="en-US" sz="1700" dirty="0">
              <a:solidFill>
                <a:srgbClr val="FA325D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6374248" y="2547541"/>
            <a:ext cx="4960218" cy="12102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Vendor Consolidation &amp; Negotiation → </a:t>
            </a:r>
            <a:r>
              <a:rPr lang="en-US" sz="135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10–15% savings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Budget Review &amp; Refinement → </a:t>
            </a:r>
            <a:r>
              <a:rPr lang="en-US" sz="135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20–30% variance reduction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Regional Cost Standardization → </a:t>
            </a:r>
            <a:r>
              <a:rPr lang="en-US" sz="135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5–10% cost cut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118868"/>
            <a:ext cx="5351725" cy="2164358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04785" y="4270474"/>
            <a:ext cx="265106" cy="26511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57229" y="4833441"/>
            <a:ext cx="4960218" cy="2761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Operational Optimization — </a:t>
            </a:r>
            <a:r>
              <a:rPr lang="en-US" sz="1700" dirty="0">
                <a:solidFill>
                  <a:srgbClr val="E47B0A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Medium Priority</a:t>
            </a:r>
            <a:endParaRPr lang="en-US" sz="1700" dirty="0">
              <a:solidFill>
                <a:srgbClr val="E47B0A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57229" y="5208687"/>
            <a:ext cx="4960218" cy="878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Transfer Productivity Best Practices → </a:t>
            </a:r>
            <a:r>
              <a:rPr lang="en-US" sz="135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10–15% efficiency gain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Rent &amp; Payroll Optimization → </a:t>
            </a:r>
            <a:r>
              <a:rPr lang="en-US" sz="135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5–10% each</a:t>
            </a:r>
            <a:endParaRPr lang="en-US" sz="13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78495" y="4118868"/>
            <a:ext cx="5351725" cy="2164358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21804" y="4270474"/>
            <a:ext cx="265106" cy="265113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374248" y="4833441"/>
            <a:ext cx="4960218" cy="2761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Data Governance — </a:t>
            </a:r>
            <a:r>
              <a:rPr lang="en-US" sz="1700" dirty="0">
                <a:solidFill>
                  <a:srgbClr val="0959DD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Foundation</a:t>
            </a:r>
            <a:endParaRPr lang="en-US" sz="1700" dirty="0">
              <a:solidFill>
                <a:srgbClr val="0959DD"/>
              </a:solidFill>
              <a:latin typeface="IBM Plex Sans Medium" panose="020B0503050203000203" pitchFamily="34" charset="0"/>
              <a:ea typeface="IBM Plex Sans Medium" panose="020B0503050203000203" pitchFamily="34" charset="-122"/>
              <a:cs typeface="IBM Plex Sans Medium" panose="020B0503050203000203" pitchFamily="34" charset="-120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374248" y="5208687"/>
            <a:ext cx="4960218" cy="6051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Fix Missing Customer/Vendor IDs → Improved analytics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Establish Data Quality Framework → Sustainable insights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44000"/>
                <a:lumOff val="56000"/>
              </a:schemeClr>
            </a:gs>
            <a:gs pos="0">
              <a:srgbClr val="05D9D7"/>
            </a:gs>
            <a:gs pos="50000">
              <a:srgbClr val="FBFEFE">
                <a:lumMod val="60000"/>
                <a:lumOff val="40000"/>
                <a:alpha val="57000"/>
              </a:srgbClr>
            </a:gs>
            <a:gs pos="96000">
              <a:schemeClr val="accent3">
                <a:lumMod val="40000"/>
                <a:lumOff val="60000"/>
              </a:scheme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"/>
          <p:cNvSpPr/>
          <p:nvPr/>
        </p:nvSpPr>
        <p:spPr>
          <a:xfrm>
            <a:off x="573405" y="2736215"/>
            <a:ext cx="5463540" cy="1358265"/>
          </a:xfrm>
          <a:prstGeom prst="roundRect">
            <a:avLst>
              <a:gd name="adj" fmla="val 7188"/>
            </a:avLst>
          </a:prstGeom>
          <a:solidFill>
            <a:srgbClr val="E47B0A">
              <a:alpha val="95000"/>
            </a:srgbClr>
          </a:solidFill>
        </p:spPr>
      </p:sp>
      <p:sp>
        <p:nvSpPr>
          <p:cNvPr id="2" name="Text 0"/>
          <p:cNvSpPr/>
          <p:nvPr/>
        </p:nvSpPr>
        <p:spPr>
          <a:xfrm>
            <a:off x="661475" y="543818"/>
            <a:ext cx="10868745" cy="413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6A6A62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Summary &amp;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420" y="1096010"/>
            <a:ext cx="5463540" cy="1458595"/>
          </a:xfrm>
          <a:prstGeom prst="roundRect">
            <a:avLst>
              <a:gd name="adj" fmla="val 7188"/>
            </a:avLst>
          </a:prstGeom>
          <a:solidFill>
            <a:srgbClr val="5CC97B">
              <a:alpha val="9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98483" y="1188740"/>
            <a:ext cx="5199032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8483" y="1487984"/>
            <a:ext cx="5199032" cy="8169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87% revenue growth with </a:t>
            </a:r>
            <a:r>
              <a:rPr lang="en-US" sz="1200" b="1" dirty="0">
                <a:solidFill>
                  <a:srgbClr val="00000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80.5% profit margin</a:t>
            </a:r>
            <a:endParaRPr lang="en-US" sz="12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Balanced revenue across categories, segments, and regions</a:t>
            </a:r>
            <a:endParaRPr lang="en-US" sz="12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Low customer concentration – diversified revenue base</a:t>
            </a:r>
            <a:endParaRPr lang="en-US" sz="12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Strong operating leverage – expense growth (32%) &lt; revenue growth (87%)</a:t>
            </a:r>
            <a:endParaRPr lang="en-US" sz="1200" dirty="0">
              <a:solidFill>
                <a:srgbClr val="000000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8483" y="2635210"/>
            <a:ext cx="5199032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98483" y="2842280"/>
            <a:ext cx="5199032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Critical Areas to Address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483" y="3141524"/>
            <a:ext cx="5199032" cy="8169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$63.48M</a:t>
            </a:r>
            <a:r>
              <a:rPr lang="en-US" sz="12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expense overrun (60.9% above budget)</a:t>
            </a:r>
            <a:endParaRPr lang="en-US" sz="12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Vendor concentration &amp; dependency risk</a:t>
            </a:r>
            <a:endParaRPr lang="en-US" sz="12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Employee productivity gap (3.64x–4.15x across units)</a:t>
            </a:r>
            <a:endParaRPr lang="en-US" sz="12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Data quality gaps (missing customer/vendor IDs)</a:t>
            </a:r>
            <a:endParaRPr lang="en-US" sz="1200" dirty="0">
              <a:solidFill>
                <a:srgbClr val="000000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63523" y="1188740"/>
            <a:ext cx="5273047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6A6A62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Implementation Timeline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61760" y="1449705"/>
            <a:ext cx="5074920" cy="26797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300" b="1" dirty="0">
                <a:solidFill>
                  <a:srgbClr val="214011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Build on excellence – act on expense management to unlock even higher profitability.</a:t>
            </a:r>
            <a:endParaRPr lang="en-US" sz="13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First, we need to monitor the ROI of our sales and marketing spend. We've proven it works, but we must ensure efficiency scales.</a:t>
            </a:r>
            <a:endParaRPr lang="en-US" sz="13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endParaRPr lang="en-US" sz="13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Second, we must resolve the data issue with Data—it's a red flag for data integrity. Third, we need to optimize costs in the Retail unit, which is our highest-cost performer. </a:t>
            </a:r>
            <a:endParaRPr lang="en-US" sz="13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endParaRPr lang="en-US" sz="1300" dirty="0">
              <a:solidFill>
                <a:srgbClr val="21401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Finally, our budget is clearly misaligned—we need to recalibrate to reflect our new reality.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H="1">
            <a:off x="6190615" y="1499870"/>
            <a:ext cx="76200" cy="2519680"/>
          </a:xfrm>
          <a:prstGeom prst="roundRect">
            <a:avLst>
              <a:gd name="adj" fmla="val 49999"/>
            </a:avLst>
          </a:prstGeom>
          <a:solidFill>
            <a:srgbClr val="06222E"/>
          </a:solidFill>
        </p:spPr>
      </p:sp>
      <p:sp>
        <p:nvSpPr>
          <p:cNvPr id="12" name="Shape 10"/>
          <p:cNvSpPr/>
          <p:nvPr/>
        </p:nvSpPr>
        <p:spPr>
          <a:xfrm>
            <a:off x="6066155" y="4515485"/>
            <a:ext cx="76200" cy="1798955"/>
          </a:xfrm>
          <a:prstGeom prst="roundRect">
            <a:avLst>
              <a:gd name="adj" fmla="val 49999"/>
            </a:avLst>
          </a:prstGeom>
          <a:solidFill>
            <a:srgbClr val="666666"/>
          </a:solidFill>
        </p:spPr>
      </p:sp>
      <p:sp>
        <p:nvSpPr>
          <p:cNvPr id="13" name="Shape 11"/>
          <p:cNvSpPr/>
          <p:nvPr/>
        </p:nvSpPr>
        <p:spPr>
          <a:xfrm>
            <a:off x="5569208" y="4600079"/>
            <a:ext cx="396865" cy="19050"/>
          </a:xfrm>
          <a:prstGeom prst="roundRect">
            <a:avLst>
              <a:gd name="adj" fmla="val 49999"/>
            </a:avLst>
          </a:prstGeom>
          <a:solidFill>
            <a:srgbClr val="666666"/>
          </a:solidFill>
        </p:spPr>
      </p:sp>
      <p:sp>
        <p:nvSpPr>
          <p:cNvPr id="14" name="Shape 12"/>
          <p:cNvSpPr/>
          <p:nvPr/>
        </p:nvSpPr>
        <p:spPr>
          <a:xfrm>
            <a:off x="5947023" y="4460776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808080"/>
          </a:solidFill>
        </p:spPr>
      </p:sp>
      <p:sp>
        <p:nvSpPr>
          <p:cNvPr id="15" name="Text 13"/>
          <p:cNvSpPr/>
          <p:nvPr/>
        </p:nvSpPr>
        <p:spPr>
          <a:xfrm>
            <a:off x="5996631" y="4485580"/>
            <a:ext cx="198433" cy="2480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1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61475" y="4475738"/>
            <a:ext cx="4772898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Q1 2024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475" y="4737973"/>
            <a:ext cx="4772898" cy="179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Budget review, expense controls, vendor negotiation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5622" y="5314553"/>
            <a:ext cx="396865" cy="19050"/>
          </a:xfrm>
          <a:prstGeom prst="roundRect">
            <a:avLst>
              <a:gd name="adj" fmla="val 49999"/>
            </a:avLst>
          </a:prstGeom>
          <a:solidFill>
            <a:srgbClr val="666666"/>
          </a:solidFill>
        </p:spPr>
      </p:sp>
      <p:sp>
        <p:nvSpPr>
          <p:cNvPr id="19" name="Shape 17"/>
          <p:cNvSpPr/>
          <p:nvPr/>
        </p:nvSpPr>
        <p:spPr>
          <a:xfrm>
            <a:off x="5947023" y="5175250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808080"/>
          </a:solidFill>
        </p:spPr>
      </p:sp>
      <p:sp>
        <p:nvSpPr>
          <p:cNvPr id="20" name="Text 18"/>
          <p:cNvSpPr/>
          <p:nvPr/>
        </p:nvSpPr>
        <p:spPr>
          <a:xfrm>
            <a:off x="5996631" y="5200055"/>
            <a:ext cx="198433" cy="2480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2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757322" y="5180052"/>
            <a:ext cx="4772898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Q2 2024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57322" y="5442287"/>
            <a:ext cx="4772898" cy="179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Enterprise </a:t>
            </a: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growth </a:t>
            </a:r>
            <a:r>
              <a:rPr lang="en-US" sz="10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initiatives, regional strategy rollout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69208" y="5989558"/>
            <a:ext cx="396865" cy="19050"/>
          </a:xfrm>
          <a:prstGeom prst="roundRect">
            <a:avLst>
              <a:gd name="adj" fmla="val 49999"/>
            </a:avLst>
          </a:prstGeom>
          <a:solidFill>
            <a:srgbClr val="666666"/>
          </a:solidFill>
        </p:spPr>
      </p:sp>
      <p:sp>
        <p:nvSpPr>
          <p:cNvPr id="24" name="Shape 22"/>
          <p:cNvSpPr/>
          <p:nvPr/>
        </p:nvSpPr>
        <p:spPr>
          <a:xfrm>
            <a:off x="5947023" y="5819775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808080"/>
          </a:solidFill>
        </p:spPr>
      </p:sp>
      <p:sp>
        <p:nvSpPr>
          <p:cNvPr id="25" name="Text 23"/>
          <p:cNvSpPr/>
          <p:nvPr/>
        </p:nvSpPr>
        <p:spPr>
          <a:xfrm>
            <a:off x="5996631" y="5854740"/>
            <a:ext cx="198433" cy="2480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3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61475" y="5855057"/>
            <a:ext cx="4772898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214011"/>
                </a:solidFill>
                <a:latin typeface="IBM Plex Sans Medium" panose="020B0503050203000203" pitchFamily="34" charset="0"/>
                <a:ea typeface="IBM Plex Sans Medium" panose="020B0503050203000203" pitchFamily="34" charset="-122"/>
                <a:cs typeface="IBM Plex Sans Medium" panose="020B0503050203000203" pitchFamily="34" charset="-120"/>
              </a:rPr>
              <a:t>Q3–Q4 2024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1475" y="6117292"/>
            <a:ext cx="4772898" cy="179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2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Productivity </a:t>
            </a:r>
            <a:r>
              <a:rPr lang="en-US" sz="1000" dirty="0">
                <a:solidFill>
                  <a:srgbClr val="21401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transfer, data governance rollout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1"/>
  <p:tag name="KSO_WM_UNIT_TYPE" val="a"/>
  <p:tag name="KSO_WM_BEAUTIFY_FLAG" val="#wm#"/>
  <p:tag name="SlideZOrder" val="1"/>
</p:tagLst>
</file>

<file path=ppt/tags/tag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5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6447</Words>
  <Application>WPS Presentation</Application>
  <PresentationFormat>On-screen Show (16:9)</PresentationFormat>
  <Paragraphs>326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5" baseType="lpstr">
      <vt:lpstr>Arial</vt:lpstr>
      <vt:lpstr>SimSun</vt:lpstr>
      <vt:lpstr>Wingdings</vt:lpstr>
      <vt:lpstr>IBM Plex Sans Bold</vt:lpstr>
      <vt:lpstr>IBM Plex Sans Bold</vt:lpstr>
      <vt:lpstr>IBM Plex Sans Bold</vt:lpstr>
      <vt:lpstr>Roboto</vt:lpstr>
      <vt:lpstr>Roboto</vt:lpstr>
      <vt:lpstr>Roboto</vt:lpstr>
      <vt:lpstr>IBM Plex Sans Medium</vt:lpstr>
      <vt:lpstr>IBM Plex Sans Medium</vt:lpstr>
      <vt:lpstr>IBM Plex Sans Medium</vt:lpstr>
      <vt:lpstr>Roboto Bold</vt:lpstr>
      <vt:lpstr>Roboto Bold</vt:lpstr>
      <vt:lpstr>Roboto Bold</vt:lpstr>
      <vt:lpstr>Calibri</vt:lpstr>
      <vt:lpstr>Microsoft YaHei</vt:lpstr>
      <vt:lpstr>Arial Unicode MS</vt:lpstr>
      <vt:lpstr>Wingdings</vt:lpstr>
      <vt:lpstr>Manrope ExtraBold</vt:lpstr>
      <vt:lpstr>Lato</vt:lpstr>
      <vt:lpstr>KSOF2CABAA89</vt:lpstr>
      <vt:lpstr>KSOF6191E5CA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abhinetra gujjewar</cp:lastModifiedBy>
  <cp:revision>29</cp:revision>
  <dcterms:created xsi:type="dcterms:W3CDTF">2026-08-08T19:09:00Z</dcterms:created>
  <dcterms:modified xsi:type="dcterms:W3CDTF">2026-08-09T14:57:57Z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5E0C424E71F948119109B779CF3EDC8C_13</vt:lpwstr>
  </property>
</Properties>
</file>